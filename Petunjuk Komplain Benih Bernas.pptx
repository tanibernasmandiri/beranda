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</p:sldIdLst>
  <p:sldSz cx="10080625" cy="7200900"/>
  <p:notesSz cx="6858000" cy="9144000"/>
  <p:defaultTextStyle>
    <a:defPPr>
      <a:defRPr lang="id-ID"/>
    </a:defPPr>
    <a:lvl1pPr marL="0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93730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87461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481191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974921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468651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962382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456112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949842" algn="l" defTabSz="987461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8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1002" y="312"/>
      </p:cViewPr>
      <p:guideLst>
        <p:guide orient="horz" pos="2268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412916-1493-43F6-80C3-A12D4428E164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C916-1D28-45A6-B53E-E27B6498D4CD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148983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9A131-A3A7-4067-AD86-62E81F524092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30288" y="685800"/>
            <a:ext cx="47974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67362-098A-4C56-A781-282221FD0423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804690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3730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87461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81191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74921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68651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62382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56112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49842" algn="l" defTabSz="987461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30288" y="685800"/>
            <a:ext cx="47974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67362-098A-4C56-A781-282221FD0423}" type="slidenum">
              <a:rPr lang="id-ID" smtClean="0"/>
              <a:pPr/>
              <a:t>1</a:t>
            </a:fld>
            <a:endParaRPr lang="id-ID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30288" y="685800"/>
            <a:ext cx="47974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67362-098A-4C56-A781-282221FD0423}" type="slidenum">
              <a:rPr lang="id-ID" smtClean="0"/>
              <a:pPr/>
              <a:t>2</a:t>
            </a:fld>
            <a:endParaRPr lang="id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30288" y="685800"/>
            <a:ext cx="47974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167362-098A-4C56-A781-282221FD0423}" type="slidenum">
              <a:rPr lang="id-ID" smtClean="0"/>
              <a:pPr/>
              <a:t>3</a:t>
            </a:fld>
            <a:endParaRPr lang="id-ID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67362-098A-4C56-A781-282221FD0423}" type="slidenum">
              <a:rPr lang="id-ID" smtClean="0"/>
              <a:pPr/>
              <a:t>5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40150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236947"/>
            <a:ext cx="8568531" cy="15435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080510"/>
            <a:ext cx="7056438" cy="184023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3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874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811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749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686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623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561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49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627245"/>
            <a:ext cx="8568531" cy="1430179"/>
          </a:xfrm>
        </p:spPr>
        <p:txBody>
          <a:bodyPr anchor="t"/>
          <a:lstStyle>
            <a:lvl1pPr algn="l">
              <a:defRPr sz="4300" b="1" cap="all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052049"/>
            <a:ext cx="8568531" cy="1575196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373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2pPr>
            <a:lvl3pPr marL="987461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8119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7492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6865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6238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5611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4984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31" y="1680211"/>
            <a:ext cx="4452276" cy="475226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680211"/>
            <a:ext cx="4452276" cy="475226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900"/>
            </a:lvl4pPr>
            <a:lvl5pPr>
              <a:defRPr sz="1900"/>
            </a:lvl5pPr>
            <a:lvl6pPr>
              <a:defRPr sz="1900"/>
            </a:lvl6pPr>
            <a:lvl7pPr>
              <a:defRPr sz="1900"/>
            </a:lvl7pPr>
            <a:lvl8pPr>
              <a:defRPr sz="1900"/>
            </a:lvl8pPr>
            <a:lvl9pPr>
              <a:defRPr sz="1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11869"/>
            <a:ext cx="4454027" cy="671750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3730" indent="0">
              <a:buNone/>
              <a:defRPr sz="2200" b="1"/>
            </a:lvl2pPr>
            <a:lvl3pPr marL="987461" indent="0">
              <a:buNone/>
              <a:defRPr sz="1900" b="1"/>
            </a:lvl3pPr>
            <a:lvl4pPr marL="1481191" indent="0">
              <a:buNone/>
              <a:defRPr sz="1700" b="1"/>
            </a:lvl4pPr>
            <a:lvl5pPr marL="1974921" indent="0">
              <a:buNone/>
              <a:defRPr sz="1700" b="1"/>
            </a:lvl5pPr>
            <a:lvl6pPr marL="2468651" indent="0">
              <a:buNone/>
              <a:defRPr sz="1700" b="1"/>
            </a:lvl6pPr>
            <a:lvl7pPr marL="2962382" indent="0">
              <a:buNone/>
              <a:defRPr sz="1700" b="1"/>
            </a:lvl7pPr>
            <a:lvl8pPr marL="3456112" indent="0">
              <a:buNone/>
              <a:defRPr sz="1700" b="1"/>
            </a:lvl8pPr>
            <a:lvl9pPr marL="3949842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283619"/>
            <a:ext cx="4454027" cy="414885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11869"/>
            <a:ext cx="4455776" cy="671750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3730" indent="0">
              <a:buNone/>
              <a:defRPr sz="2200" b="1"/>
            </a:lvl2pPr>
            <a:lvl3pPr marL="987461" indent="0">
              <a:buNone/>
              <a:defRPr sz="1900" b="1"/>
            </a:lvl3pPr>
            <a:lvl4pPr marL="1481191" indent="0">
              <a:buNone/>
              <a:defRPr sz="1700" b="1"/>
            </a:lvl4pPr>
            <a:lvl5pPr marL="1974921" indent="0">
              <a:buNone/>
              <a:defRPr sz="1700" b="1"/>
            </a:lvl5pPr>
            <a:lvl6pPr marL="2468651" indent="0">
              <a:buNone/>
              <a:defRPr sz="1700" b="1"/>
            </a:lvl6pPr>
            <a:lvl7pPr marL="2962382" indent="0">
              <a:buNone/>
              <a:defRPr sz="1700" b="1"/>
            </a:lvl7pPr>
            <a:lvl8pPr marL="3456112" indent="0">
              <a:buNone/>
              <a:defRPr sz="1700" b="1"/>
            </a:lvl8pPr>
            <a:lvl9pPr marL="3949842" indent="0">
              <a:buNone/>
              <a:defRPr sz="17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283619"/>
            <a:ext cx="4455776" cy="414885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19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2" y="286702"/>
            <a:ext cx="3316456" cy="122015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5" y="286703"/>
            <a:ext cx="5635349" cy="6145769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2" y="1506856"/>
            <a:ext cx="3316456" cy="4925616"/>
          </a:xfrm>
        </p:spPr>
        <p:txBody>
          <a:bodyPr/>
          <a:lstStyle>
            <a:lvl1pPr marL="0" indent="0">
              <a:buNone/>
              <a:defRPr sz="1500"/>
            </a:lvl1pPr>
            <a:lvl2pPr marL="493730" indent="0">
              <a:buNone/>
              <a:defRPr sz="1300"/>
            </a:lvl2pPr>
            <a:lvl3pPr marL="987461" indent="0">
              <a:buNone/>
              <a:defRPr sz="1100"/>
            </a:lvl3pPr>
            <a:lvl4pPr marL="1481191" indent="0">
              <a:buNone/>
              <a:defRPr sz="1000"/>
            </a:lvl4pPr>
            <a:lvl5pPr marL="1974921" indent="0">
              <a:buNone/>
              <a:defRPr sz="1000"/>
            </a:lvl5pPr>
            <a:lvl6pPr marL="2468651" indent="0">
              <a:buNone/>
              <a:defRPr sz="1000"/>
            </a:lvl6pPr>
            <a:lvl7pPr marL="2962382" indent="0">
              <a:buNone/>
              <a:defRPr sz="1000"/>
            </a:lvl7pPr>
            <a:lvl8pPr marL="3456112" indent="0">
              <a:buNone/>
              <a:defRPr sz="1000"/>
            </a:lvl8pPr>
            <a:lvl9pPr marL="394984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040630"/>
            <a:ext cx="6048375" cy="59507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43414"/>
            <a:ext cx="6048375" cy="4320540"/>
          </a:xfrm>
        </p:spPr>
        <p:txBody>
          <a:bodyPr/>
          <a:lstStyle>
            <a:lvl1pPr marL="0" indent="0">
              <a:buNone/>
              <a:defRPr sz="3500"/>
            </a:lvl1pPr>
            <a:lvl2pPr marL="493730" indent="0">
              <a:buNone/>
              <a:defRPr sz="3000"/>
            </a:lvl2pPr>
            <a:lvl3pPr marL="987461" indent="0">
              <a:buNone/>
              <a:defRPr sz="2600"/>
            </a:lvl3pPr>
            <a:lvl4pPr marL="1481191" indent="0">
              <a:buNone/>
              <a:defRPr sz="2200"/>
            </a:lvl4pPr>
            <a:lvl5pPr marL="1974921" indent="0">
              <a:buNone/>
              <a:defRPr sz="2200"/>
            </a:lvl5pPr>
            <a:lvl6pPr marL="2468651" indent="0">
              <a:buNone/>
              <a:defRPr sz="2200"/>
            </a:lvl6pPr>
            <a:lvl7pPr marL="2962382" indent="0">
              <a:buNone/>
              <a:defRPr sz="2200"/>
            </a:lvl7pPr>
            <a:lvl8pPr marL="3456112" indent="0">
              <a:buNone/>
              <a:defRPr sz="2200"/>
            </a:lvl8pPr>
            <a:lvl9pPr marL="3949842" indent="0">
              <a:buNone/>
              <a:defRPr sz="2200"/>
            </a:lvl9pPr>
          </a:lstStyle>
          <a:p>
            <a:endParaRPr lang="id-ID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635705"/>
            <a:ext cx="6048375" cy="845105"/>
          </a:xfrm>
        </p:spPr>
        <p:txBody>
          <a:bodyPr/>
          <a:lstStyle>
            <a:lvl1pPr marL="0" indent="0">
              <a:buNone/>
              <a:defRPr sz="1500"/>
            </a:lvl1pPr>
            <a:lvl2pPr marL="493730" indent="0">
              <a:buNone/>
              <a:defRPr sz="1300"/>
            </a:lvl2pPr>
            <a:lvl3pPr marL="987461" indent="0">
              <a:buNone/>
              <a:defRPr sz="1100"/>
            </a:lvl3pPr>
            <a:lvl4pPr marL="1481191" indent="0">
              <a:buNone/>
              <a:defRPr sz="1000"/>
            </a:lvl4pPr>
            <a:lvl5pPr marL="1974921" indent="0">
              <a:buNone/>
              <a:defRPr sz="1000"/>
            </a:lvl5pPr>
            <a:lvl6pPr marL="2468651" indent="0">
              <a:buNone/>
              <a:defRPr sz="1000"/>
            </a:lvl6pPr>
            <a:lvl7pPr marL="2962382" indent="0">
              <a:buNone/>
              <a:defRPr sz="1000"/>
            </a:lvl7pPr>
            <a:lvl8pPr marL="3456112" indent="0">
              <a:buNone/>
              <a:defRPr sz="1000"/>
            </a:lvl8pPr>
            <a:lvl9pPr marL="3949842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8453" y="288371"/>
            <a:ext cx="2268141" cy="61441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4031" y="288371"/>
            <a:ext cx="6636411" cy="6144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31" y="288370"/>
            <a:ext cx="9072563" cy="1200150"/>
          </a:xfrm>
          <a:prstGeom prst="rect">
            <a:avLst/>
          </a:prstGeom>
        </p:spPr>
        <p:txBody>
          <a:bodyPr vert="horz" lIns="98746" tIns="49373" rIns="98746" bIns="49373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80211"/>
            <a:ext cx="9072563" cy="4752261"/>
          </a:xfrm>
          <a:prstGeom prst="rect">
            <a:avLst/>
          </a:prstGeom>
        </p:spPr>
        <p:txBody>
          <a:bodyPr vert="horz" lIns="98746" tIns="49373" rIns="98746" bIns="493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31" y="6674168"/>
            <a:ext cx="2352146" cy="383381"/>
          </a:xfrm>
          <a:prstGeom prst="rect">
            <a:avLst/>
          </a:prstGeom>
        </p:spPr>
        <p:txBody>
          <a:bodyPr vert="horz" lIns="98746" tIns="49373" rIns="98746" bIns="49373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7563F-8713-48B9-A6DE-D4319C717DCF}" type="datetimeFigureOut">
              <a:rPr lang="id-ID" smtClean="0"/>
              <a:pPr/>
              <a:t>06/08/2024</a:t>
            </a:fld>
            <a:endParaRPr lang="id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214" y="6674168"/>
            <a:ext cx="3192198" cy="383381"/>
          </a:xfrm>
          <a:prstGeom prst="rect">
            <a:avLst/>
          </a:prstGeom>
        </p:spPr>
        <p:txBody>
          <a:bodyPr vert="horz" lIns="98746" tIns="49373" rIns="98746" bIns="49373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448" y="6674168"/>
            <a:ext cx="2352146" cy="383381"/>
          </a:xfrm>
          <a:prstGeom prst="rect">
            <a:avLst/>
          </a:prstGeom>
        </p:spPr>
        <p:txBody>
          <a:bodyPr vert="horz" lIns="98746" tIns="49373" rIns="98746" bIns="49373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BF721-D1E4-4317-9768-A64895413A9C}" type="slidenum">
              <a:rPr lang="id-ID" smtClean="0"/>
              <a:pPr/>
              <a:t>‹#›</a:t>
            </a:fld>
            <a:endParaRPr lang="id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87461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0298" indent="-370298" algn="l" defTabSz="987461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2312" indent="-308581" algn="l" defTabSz="987461" rtl="0" eaLnBrk="1" latinLnBrk="0" hangingPunct="1">
        <a:spcBef>
          <a:spcPct val="20000"/>
        </a:spcBef>
        <a:buFont typeface="Arial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34326" indent="-246865" algn="l" defTabSz="987461" rtl="0" eaLnBrk="1" latinLnBrk="0" hangingPunct="1">
        <a:spcBef>
          <a:spcPct val="20000"/>
        </a:spcBef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28056" indent="-246865" algn="l" defTabSz="987461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21786" indent="-246865" algn="l" defTabSz="987461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15517" indent="-246865" algn="l" defTabSz="98746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09247" indent="-246865" algn="l" defTabSz="98746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02977" indent="-246865" algn="l" defTabSz="98746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196707" indent="-246865" algn="l" defTabSz="987461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30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87461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81191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74921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68651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62382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56112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949842" algn="l" defTabSz="987461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568EE6-0EE7-4FD2-AEB0-44EBCCB6D24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6"/>
          <a:stretch/>
        </p:blipFill>
        <p:spPr>
          <a:xfrm>
            <a:off x="17939" y="0"/>
            <a:ext cx="10062685" cy="72009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034" y="1324756"/>
            <a:ext cx="5184576" cy="1584176"/>
          </a:xfrm>
        </p:spPr>
        <p:txBody>
          <a:bodyPr>
            <a:noAutofit/>
          </a:bodyPr>
          <a:lstStyle/>
          <a:p>
            <a:pPr algn="l"/>
            <a:r>
              <a:rPr lang="id-ID" sz="3300" b="1" dirty="0"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PETUNJUK PENELUSURAN</a:t>
            </a:r>
            <a:br>
              <a:rPr lang="id-ID" sz="4000" b="1" dirty="0">
                <a:solidFill>
                  <a:srgbClr val="FF0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id-ID" sz="4000" b="1" dirty="0">
                <a:solidFill>
                  <a:srgbClr val="FF0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KOMPLAIN </a:t>
            </a:r>
            <a:r>
              <a:rPr lang="id-ID" sz="4000" b="1">
                <a:solidFill>
                  <a:srgbClr val="FF0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KUALITAS </a:t>
            </a:r>
            <a:br>
              <a:rPr lang="en-US" sz="4000" b="1">
                <a:solidFill>
                  <a:srgbClr val="FF0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</a:br>
            <a:r>
              <a:rPr lang="id-ID" sz="4000" b="1">
                <a:solidFill>
                  <a:srgbClr val="FFC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BENIH</a:t>
            </a:r>
            <a:r>
              <a:rPr lang="en-US" sz="4000" b="1">
                <a:solidFill>
                  <a:srgbClr val="FFC000"/>
                </a:solidFill>
                <a:latin typeface="Arial Narrow" panose="020B0606020202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PADI</a:t>
            </a:r>
            <a:endParaRPr lang="id-ID" sz="4000" b="1" dirty="0">
              <a:solidFill>
                <a:srgbClr val="FFC000"/>
              </a:solidFill>
              <a:latin typeface="Arial Narrow" panose="020B0606020202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image1.png">
            <a:extLst>
              <a:ext uri="{FF2B5EF4-FFF2-40B4-BE49-F238E27FC236}">
                <a16:creationId xmlns:a16="http://schemas.microsoft.com/office/drawing/2014/main" id="{E8403160-9C8D-4DC8-B584-D8747370D95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4026" y="395935"/>
            <a:ext cx="1883246" cy="6813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FDDB722-FCB8-413A-952B-8B31BA655FC1}"/>
              </a:ext>
            </a:extLst>
          </p:cNvPr>
          <p:cNvSpPr/>
          <p:nvPr/>
        </p:nvSpPr>
        <p:spPr>
          <a:xfrm>
            <a:off x="252018" y="1324756"/>
            <a:ext cx="144016" cy="158417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24E9F9-A678-4141-B40E-D21560F453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438" t="16612" r="7855" b="13875"/>
          <a:stretch/>
        </p:blipFill>
        <p:spPr>
          <a:xfrm>
            <a:off x="5040312" y="1077306"/>
            <a:ext cx="4549619" cy="4330667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B8F6465-E500-4CB5-9B75-B28AC7282358}"/>
              </a:ext>
            </a:extLst>
          </p:cNvPr>
          <p:cNvSpPr/>
          <p:nvPr/>
        </p:nvSpPr>
        <p:spPr>
          <a:xfrm>
            <a:off x="393742" y="1224186"/>
            <a:ext cx="9293141" cy="574805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6710CDE-44B4-4251-A343-CDE9B4291BCE}"/>
              </a:ext>
            </a:extLst>
          </p:cNvPr>
          <p:cNvSpPr/>
          <p:nvPr/>
        </p:nvSpPr>
        <p:spPr>
          <a:xfrm>
            <a:off x="-1" y="288370"/>
            <a:ext cx="10080625" cy="1079832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288370"/>
            <a:ext cx="9576594" cy="1079832"/>
          </a:xfrm>
        </p:spPr>
        <p:txBody>
          <a:bodyPr/>
          <a:lstStyle/>
          <a:p>
            <a:r>
              <a:rPr lang="id-ID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KOMPLAIN DAYA TUMBUH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42" y="1494356"/>
            <a:ext cx="9182852" cy="5064613"/>
          </a:xfrm>
        </p:spPr>
        <p:txBody>
          <a:bodyPr>
            <a:normAutofit fontScale="32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DATANGI LOKASI TERJADINYA KELUHAN MAKSIMAL  2 X 24 JAM SETELAH ADA LAPORAN</a:t>
            </a:r>
            <a:r>
              <a:rPr lang="id-ID" sz="5900">
                <a:sym typeface="Wingdings"/>
              </a:rPr>
              <a:t> DARI LAPANG</a:t>
            </a:r>
            <a:r>
              <a:rPr lang="en-US" sz="5900">
                <a:sym typeface="Wingdings"/>
              </a:rPr>
              <a:t>AN</a:t>
            </a:r>
            <a:endParaRPr lang="id-ID" sz="5900"/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SAMPAIKAN PERMOHONAN</a:t>
            </a:r>
            <a:r>
              <a:rPr lang="en-US" sz="5900"/>
              <a:t> </a:t>
            </a:r>
            <a:r>
              <a:rPr lang="id-ID" sz="5900"/>
              <a:t>MAAF ATAS KETIDAKNYAMANAN</a:t>
            </a:r>
            <a:r>
              <a:rPr lang="en-US" sz="5900"/>
              <a:t> KEPADA PETANI/PELANGGAN</a:t>
            </a:r>
            <a:endParaRPr lang="id-ID" sz="5900"/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TAMPUNG INFORMASI SEBANYAK MUNGKIN KELUHAN YANG ADA,  JANGAN LANGSUNG MENYALAHKAN KONDISI BENIH YANG KITA KIRIMKAN DAN JANGAN  SEMATA MEMATAHKAN KELUHAN  PETANI/PELANGGAN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CHECK STOCK YANG MASIH ADA DIKELOMPOK TANI SERTA AMBIL SAMPELNYA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APABILA MASIH ADA BENIH DALAM KANTONG YANG MASIH BELUM DISEMAI, CEK KONDISI KANTONG APAKAH ADA KEJANGGALAN PADA LAMINASI KEMASANNYA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LIHAT KONDISI PERSEMAIAN DILAPANG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5900"/>
              <a:t>GALI INFORMASI PERLAKUAN PETANI DALAM PERLAKUAN JELANG SEMAI SAAT PERENDAMAN DAN PERSEMAIAN DILAHAN</a:t>
            </a:r>
            <a:r>
              <a:rPr lang="id-ID" sz="5900">
                <a:sym typeface="Wingdings"/>
              </a:rPr>
              <a:t></a:t>
            </a:r>
            <a:r>
              <a:rPr lang="id-ID" sz="5900"/>
              <a:t> BENIH DIRENDAM 12 JAM, DIBUANG BUTIR YANG MENGAPUNG, KEMUDIAN DITIRISKAN SELAMA 12 JAM DAN DITEBAR DIPERSEMAIAN SETELAH MULAI MUNCUL TANDA PERKECAMBAHAN.</a:t>
            </a:r>
          </a:p>
          <a:p>
            <a:pPr marL="711200" indent="-347663">
              <a:buNone/>
            </a:pPr>
            <a:r>
              <a:rPr lang="id-ID" sz="5900"/>
              <a:t>SISTIM PERSEMAIAN :</a:t>
            </a:r>
          </a:p>
          <a:p>
            <a:pPr marL="711200" lvl="0" indent="-347663">
              <a:buNone/>
            </a:pPr>
            <a:r>
              <a:rPr lang="id-ID" sz="5900"/>
              <a:t>- </a:t>
            </a:r>
            <a:r>
              <a:rPr lang="en-US" sz="5900"/>
              <a:t>	</a:t>
            </a:r>
            <a:r>
              <a:rPr lang="id-ID" sz="5900"/>
              <a:t>SISTIM BASAH DI AREAL SAWAH</a:t>
            </a:r>
          </a:p>
          <a:p>
            <a:pPr marL="711200" lvl="0" indent="-347663">
              <a:buNone/>
            </a:pPr>
            <a:r>
              <a:rPr lang="id-ID" sz="5900"/>
              <a:t>- </a:t>
            </a:r>
            <a:r>
              <a:rPr lang="en-US" sz="5900"/>
              <a:t>	</a:t>
            </a:r>
            <a:r>
              <a:rPr lang="id-ID" sz="5900"/>
              <a:t>SISTIM KERING DI LADANG ATAU PEKARANGAN </a:t>
            </a:r>
            <a:r>
              <a:rPr lang="id-ID" sz="5900">
                <a:sym typeface="Wingdings"/>
              </a:rPr>
              <a:t></a:t>
            </a:r>
            <a:r>
              <a:rPr lang="id-ID" sz="5900"/>
              <a:t> PERLU PENYIRAMAN 	   	   SECARA RUTIN</a:t>
            </a:r>
          </a:p>
          <a:p>
            <a:endParaRPr lang="id-ID"/>
          </a:p>
          <a:p>
            <a:pPr lvl="0"/>
            <a:endParaRPr lang="id-ID"/>
          </a:p>
          <a:p>
            <a:endParaRPr lang="id-ID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79FA9DB-6E87-47E8-9C7B-B79AC620794F}"/>
              </a:ext>
            </a:extLst>
          </p:cNvPr>
          <p:cNvSpPr/>
          <p:nvPr/>
        </p:nvSpPr>
        <p:spPr>
          <a:xfrm>
            <a:off x="393742" y="684270"/>
            <a:ext cx="288032" cy="2880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67890B9D-9EFE-4343-9948-098DDEC8104B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FC3BC29-56F4-4254-A418-D32021214D13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9" name="object 11">
              <a:extLst>
                <a:ext uri="{FF2B5EF4-FFF2-40B4-BE49-F238E27FC236}">
                  <a16:creationId xmlns:a16="http://schemas.microsoft.com/office/drawing/2014/main" id="{B90D59F2-033F-4508-8A82-147ED8603119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12">
              <a:extLst>
                <a:ext uri="{FF2B5EF4-FFF2-40B4-BE49-F238E27FC236}">
                  <a16:creationId xmlns:a16="http://schemas.microsoft.com/office/drawing/2014/main" id="{934EA9A2-2FE9-4CDE-B1C1-21D7EDEEC28F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" name="object 2">
              <a:extLst>
                <a:ext uri="{FF2B5EF4-FFF2-40B4-BE49-F238E27FC236}">
                  <a16:creationId xmlns:a16="http://schemas.microsoft.com/office/drawing/2014/main" id="{89ED0401-3A3E-4492-9D34-F859D7734647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1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7798EC3-A3BD-4119-94B0-7AA382672D60}"/>
              </a:ext>
            </a:extLst>
          </p:cNvPr>
          <p:cNvSpPr/>
          <p:nvPr/>
        </p:nvSpPr>
        <p:spPr>
          <a:xfrm>
            <a:off x="393742" y="504106"/>
            <a:ext cx="9293141" cy="646813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253" y="825084"/>
            <a:ext cx="9025341" cy="560738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id-ID" sz="1900" dirty="0"/>
              <a:t>CHECK LABEL BENIH YANG DISEMAI, PERHATIKAN MASA BERLAKU LABEL DAN DAYA TUMBUH YANG TERCANTUM DALAM LABEL 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1900" dirty="0"/>
              <a:t>CHECK KONDISI PENYIMPANAN APABILA BENIH TIDAK LANGSUNG DI LAKUKAN PERNYEMAIAN</a:t>
            </a:r>
            <a:r>
              <a:rPr lang="id-ID" sz="1900" dirty="0">
                <a:sym typeface="Wingdings"/>
              </a:rPr>
              <a:t></a:t>
            </a:r>
            <a:r>
              <a:rPr lang="id-ID" sz="1900" dirty="0"/>
              <a:t> KELEMBAPAN RUANG PENYIMPANAN, ADA TIDAKNYA SERANGAN HAMA, ADA TIDAKNYA FLONDERS/LANDASAN, KEBOCORAN ATAP DLL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1900" dirty="0"/>
              <a:t>KOORDINASIKAN DENGAN UNIT PRODUKSI UNTUK MENGETAHUI ASAL DAN TANGGAL PANEN LOT BENIH YANG DISEMAI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1900" dirty="0"/>
              <a:t>CARI DATA PENYALURAN TERHADAP LOT BENIH TESEBUT DIKIRIMKAN KEMANA SAJA DAN APAKAH ADA KELUHAN SERUPA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1900" dirty="0"/>
              <a:t>LAKUKAN UJI DAYA TUMBUH BENIH TERHADAP SAMPLE YANG MASIH ADA/BELUM DISEMAI DALAM 3 ULANGAN @ 100 BUTIR DENGAN METODA :</a:t>
            </a:r>
          </a:p>
          <a:p>
            <a:pPr marL="812800" lvl="1" indent="-379413">
              <a:buNone/>
            </a:pPr>
            <a:r>
              <a:rPr lang="id-ID" sz="1100"/>
              <a:t>	</a:t>
            </a:r>
            <a:endParaRPr lang="en-US" sz="1100"/>
          </a:p>
          <a:p>
            <a:pPr marL="812800" lvl="1" indent="-379413">
              <a:buNone/>
            </a:pPr>
            <a:r>
              <a:rPr lang="id-ID" sz="1900"/>
              <a:t>- </a:t>
            </a:r>
            <a:r>
              <a:rPr lang="en-US" sz="1900"/>
              <a:t>	</a:t>
            </a:r>
            <a:r>
              <a:rPr lang="id-ID" sz="1900"/>
              <a:t>UJI </a:t>
            </a:r>
            <a:r>
              <a:rPr lang="id-ID" sz="1900" dirty="0"/>
              <a:t>ANTAR KERTAS</a:t>
            </a:r>
            <a:r>
              <a:rPr lang="id-ID" sz="1900" dirty="0">
                <a:sym typeface="Wingdings"/>
              </a:rPr>
              <a:t></a:t>
            </a:r>
            <a:r>
              <a:rPr lang="id-ID" sz="1900" dirty="0"/>
              <a:t> PENGAMATAN/PERHITUNGAN  HARI KE 5 dan 7</a:t>
            </a:r>
          </a:p>
          <a:p>
            <a:pPr marL="812800" lvl="1" indent="-379413">
              <a:buNone/>
            </a:pPr>
            <a:r>
              <a:rPr lang="id-ID" sz="1900"/>
              <a:t>- </a:t>
            </a:r>
            <a:r>
              <a:rPr lang="en-US" sz="1900"/>
              <a:t>	</a:t>
            </a:r>
            <a:r>
              <a:rPr lang="id-ID" sz="1900"/>
              <a:t>UJI </a:t>
            </a:r>
            <a:r>
              <a:rPr lang="id-ID" sz="1900" dirty="0"/>
              <a:t>MEDIA KAPAS/KERTAS TISSUE</a:t>
            </a:r>
            <a:r>
              <a:rPr lang="id-ID" sz="1900" dirty="0">
                <a:sym typeface="Wingdings"/>
              </a:rPr>
              <a:t></a:t>
            </a:r>
            <a:r>
              <a:rPr lang="id-ID" sz="1900" dirty="0"/>
              <a:t> PENGAMATAN SETIAP SAAT DAN      PERHITUNGAN HARI KE 7</a:t>
            </a:r>
          </a:p>
          <a:p>
            <a:pPr lvl="1">
              <a:buNone/>
            </a:pPr>
            <a:r>
              <a:rPr lang="id-ID" sz="1900" dirty="0"/>
              <a:t>		</a:t>
            </a:r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EA5BBA9D-038F-4DF4-A703-35180427BC59}"/>
              </a:ext>
            </a:extLst>
          </p:cNvPr>
          <p:cNvSpPr/>
          <p:nvPr/>
        </p:nvSpPr>
        <p:spPr>
          <a:xfrm>
            <a:off x="5832400" y="6558969"/>
            <a:ext cx="3250579" cy="413270"/>
          </a:xfrm>
          <a:prstGeom prst="parallelogram">
            <a:avLst>
              <a:gd name="adj" fmla="val 13563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AB7EF24-D1C0-471A-BA51-923AC96BDF94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C16EBC7-7D2A-4A82-BD01-34DCC5F4232E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0572CBF9-F4FE-4311-9BAD-8BEAB3E1BBB1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7C1411A0-E8C5-47CC-B23A-6BD7AF30F6E0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4FB4C97B-36AA-4EF9-9A43-4D265807E29E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2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ADC0B315-DDBE-407B-A8EF-B25A3FE6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2440" y="6601445"/>
            <a:ext cx="2119477" cy="383381"/>
          </a:xfrm>
        </p:spPr>
        <p:txBody>
          <a:bodyPr/>
          <a:lstStyle/>
          <a:p>
            <a:r>
              <a:rPr lang="id-ID">
                <a:solidFill>
                  <a:schemeClr val="tx1"/>
                </a:solidFill>
              </a:rPr>
              <a:t>KOMPLAIN </a:t>
            </a:r>
            <a:r>
              <a:rPr lang="en-US">
                <a:solidFill>
                  <a:schemeClr val="tx1"/>
                </a:solidFill>
              </a:rPr>
              <a:t>DAYA TUMBUH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D8489D2-301C-4609-B01C-D72B45D7D3A4}"/>
              </a:ext>
            </a:extLst>
          </p:cNvPr>
          <p:cNvSpPr/>
          <p:nvPr/>
        </p:nvSpPr>
        <p:spPr>
          <a:xfrm>
            <a:off x="1662215" y="343617"/>
            <a:ext cx="6756194" cy="32097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9CCA788-DADB-494C-ABCE-19E6CF61F6C6}"/>
              </a:ext>
            </a:extLst>
          </p:cNvPr>
          <p:cNvSpPr/>
          <p:nvPr/>
        </p:nvSpPr>
        <p:spPr>
          <a:xfrm>
            <a:off x="393742" y="504106"/>
            <a:ext cx="9293141" cy="646813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6BE6CAAD-0CA0-4371-9A3C-1754F246567C}"/>
              </a:ext>
            </a:extLst>
          </p:cNvPr>
          <p:cNvSpPr/>
          <p:nvPr/>
        </p:nvSpPr>
        <p:spPr>
          <a:xfrm>
            <a:off x="5832400" y="6558969"/>
            <a:ext cx="3250579" cy="413270"/>
          </a:xfrm>
          <a:prstGeom prst="parallelogram">
            <a:avLst>
              <a:gd name="adj" fmla="val 13563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98" y="900094"/>
            <a:ext cx="9104096" cy="5532378"/>
          </a:xfrm>
        </p:spPr>
        <p:txBody>
          <a:bodyPr>
            <a:normAutofit fontScale="47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id-ID" sz="3700" dirty="0"/>
              <a:t>TUNJUKKAN HASIL PENGUJIAN KEPADA PETANI/ KELOMPOKTANI YANG MENYAMPAIKAN KELUHAN, APABILA HASIL PENGUJIAN DAYA TUMBUH MASIH SESUAI DENGAN YANG TERTERA PADA LABEL, ADA KEMUNGKINAN TERJADI KESALAHAN PENANGANAN PETANI PADA SAAT MENJELANG DAN SELAMA PENYEMAIAN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3700" dirty="0"/>
              <a:t>BANTU PETANI MENCARI SUMBER PERMASALAHAN TERJADINYA DAYA TUMBUH RENDAH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id-ID" sz="3700" dirty="0"/>
              <a:t>APABILA DARI HASIL PENGECEKAN MENUNJUKKAN BAHWA DAYA TUMBUH BENIH MEMANG SUDAH TURUN, BERIKAN PENGGANTIAN BENIH DENGAN CARA PERHITUNGAN :</a:t>
            </a:r>
          </a:p>
          <a:p>
            <a:pPr marL="363538" indent="-363538" algn="just">
              <a:buNone/>
            </a:pPr>
            <a:r>
              <a:rPr lang="id-ID" sz="3700" dirty="0"/>
              <a:t>	DAYA TUMBUH YANG TERTERA PADA LABEL  DIKURANGI  DAYA TUMBUH HASIL PENGUJIAN MAKA SELISIHNYA ADALAH PERSENTASE BENIH YANG HARUS DIBERIKAN PENGGANTIAN/PENAMBAHAN KEPADA PETANI</a:t>
            </a:r>
          </a:p>
          <a:p>
            <a:pPr marL="363538" indent="-363538" algn="just">
              <a:buNone/>
            </a:pPr>
            <a:r>
              <a:rPr lang="id-ID" sz="3700"/>
              <a:t>	</a:t>
            </a:r>
            <a:endParaRPr lang="en-US" sz="1300"/>
          </a:p>
          <a:p>
            <a:pPr marL="363538" indent="-363538" algn="just">
              <a:buNone/>
            </a:pPr>
            <a:r>
              <a:rPr lang="en-US" sz="3700"/>
              <a:t>	</a:t>
            </a:r>
            <a:r>
              <a:rPr lang="id-ID" sz="3700"/>
              <a:t>CATATAN :</a:t>
            </a:r>
          </a:p>
          <a:p>
            <a:pPr marL="623888" lvl="1" indent="-260350" algn="just">
              <a:buNone/>
            </a:pPr>
            <a:r>
              <a:rPr lang="id-ID" sz="3700"/>
              <a:t>-   </a:t>
            </a:r>
            <a:r>
              <a:rPr lang="en-US" sz="3700"/>
              <a:t>	</a:t>
            </a:r>
            <a:r>
              <a:rPr lang="id-ID" sz="3700"/>
              <a:t>DORMANSI </a:t>
            </a:r>
            <a:r>
              <a:rPr lang="id-ID" sz="3700" dirty="0"/>
              <a:t>BENIH PADI </a:t>
            </a:r>
            <a:r>
              <a:rPr lang="id-ID" sz="3700" dirty="0">
                <a:sym typeface="Wingdings"/>
              </a:rPr>
              <a:t></a:t>
            </a:r>
            <a:r>
              <a:rPr lang="id-ID" sz="3700" dirty="0"/>
              <a:t> RATA RATA EMPAT MINGGU SEJAK TANGGAL PANEN</a:t>
            </a:r>
          </a:p>
          <a:p>
            <a:pPr marL="623888" lvl="1" indent="-260350" algn="just">
              <a:buNone/>
            </a:pPr>
            <a:r>
              <a:rPr lang="id-ID" sz="3700"/>
              <a:t>- </a:t>
            </a:r>
            <a:r>
              <a:rPr lang="id-ID" sz="3700" dirty="0"/>
              <a:t>BENIH YANG BELUM PATAH DORMANSI BELUM DAPAT </a:t>
            </a:r>
            <a:r>
              <a:rPr lang="id-ID" sz="3700"/>
              <a:t>BERKECAMBAH ATAU BERKECAMBAH </a:t>
            </a:r>
            <a:r>
              <a:rPr lang="id-ID" sz="3700" dirty="0"/>
              <a:t>TIDAK MAKSIMAL</a:t>
            </a:r>
          </a:p>
          <a:p>
            <a:pPr marL="623888" lvl="1" indent="-260350" algn="just">
              <a:buNone/>
            </a:pPr>
            <a:r>
              <a:rPr lang="id-ID" sz="3700"/>
              <a:t>- </a:t>
            </a:r>
            <a:r>
              <a:rPr lang="en-US" sz="3700"/>
              <a:t>	</a:t>
            </a:r>
            <a:r>
              <a:rPr lang="id-ID" sz="3700"/>
              <a:t>PERENDAMAN </a:t>
            </a:r>
            <a:r>
              <a:rPr lang="id-ID" sz="3700" dirty="0"/>
              <a:t>BENIH PADI YANG AKAN DISEMAI SEBAIKNYA DALAM AIR MENGALIR DENGAN CARA DIRENDAM 12 JAM, DITIRISKAN DAN DIPERAM 12 JAM SELANJUTNYA DISEMAI DILAHAN</a:t>
            </a:r>
          </a:p>
          <a:p>
            <a:pPr marL="623888" lvl="1" indent="-260350" algn="just">
              <a:buNone/>
            </a:pPr>
            <a:r>
              <a:rPr lang="id-ID" sz="3700"/>
              <a:t>- </a:t>
            </a:r>
            <a:r>
              <a:rPr lang="en-US" sz="3700"/>
              <a:t>	</a:t>
            </a:r>
            <a:r>
              <a:rPr lang="id-ID" sz="3700"/>
              <a:t>UNTUK </a:t>
            </a:r>
            <a:r>
              <a:rPr lang="id-ID" sz="3700" dirty="0"/>
              <a:t>STOCK BENIH YANG SUDAH CUKUP LAMA SEBAIKNYA DILAKUKAN PENJEMURAN SELAMA 2 JAM SEBELUM DIRENDAM, UNTUK MEMPERCEPAT IMBIBISI AIR KE DALAM ENDOSPERM PADI, BARU DILAKUKAN PERENDAMAN</a:t>
            </a:r>
          </a:p>
          <a:p>
            <a:pPr>
              <a:buNone/>
            </a:pPr>
            <a:endParaRPr lang="id-ID" dirty="0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C98F1EE2-22B2-4657-AB92-1AA6F948F3DF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3D415C2-993D-450A-BB07-4D11BF746737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8" name="object 11">
              <a:extLst>
                <a:ext uri="{FF2B5EF4-FFF2-40B4-BE49-F238E27FC236}">
                  <a16:creationId xmlns:a16="http://schemas.microsoft.com/office/drawing/2014/main" id="{9A5AE40F-3163-4F18-8547-4DA3AEDDFF43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2DA9D39C-DD66-4D7D-85F5-893593CF7D73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2">
              <a:extLst>
                <a:ext uri="{FF2B5EF4-FFF2-40B4-BE49-F238E27FC236}">
                  <a16:creationId xmlns:a16="http://schemas.microsoft.com/office/drawing/2014/main" id="{21A7083F-AD08-4171-A706-8C817018AEA7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3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ADDA86A8-CF80-4740-A4A0-B3969F752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2440" y="6601445"/>
            <a:ext cx="2119477" cy="383381"/>
          </a:xfrm>
        </p:spPr>
        <p:txBody>
          <a:bodyPr/>
          <a:lstStyle/>
          <a:p>
            <a:r>
              <a:rPr lang="id-ID">
                <a:solidFill>
                  <a:schemeClr val="tx1"/>
                </a:solidFill>
              </a:rPr>
              <a:t>KOMPLAIN </a:t>
            </a:r>
            <a:r>
              <a:rPr lang="en-US">
                <a:solidFill>
                  <a:schemeClr val="tx1"/>
                </a:solidFill>
              </a:rPr>
              <a:t>DAYA TUMBUH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609ACB-F237-44BE-911E-A8D4EE027780}"/>
              </a:ext>
            </a:extLst>
          </p:cNvPr>
          <p:cNvSpPr/>
          <p:nvPr/>
        </p:nvSpPr>
        <p:spPr>
          <a:xfrm>
            <a:off x="1662215" y="343617"/>
            <a:ext cx="6756194" cy="32097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2FC8F90-739A-4A11-B937-F606EF2114E8}"/>
              </a:ext>
            </a:extLst>
          </p:cNvPr>
          <p:cNvSpPr/>
          <p:nvPr/>
        </p:nvSpPr>
        <p:spPr>
          <a:xfrm>
            <a:off x="393742" y="1224186"/>
            <a:ext cx="9293141" cy="574805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 dirty="0"/>
              <a:t>SAMPAIKAN PERMOHONAN MAAF ATAS KETIDAKNYAMANANNYA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 dirty="0"/>
              <a:t>LAKUKAN PENGECEKAN TERHADAP LOT BENIH YANG MENDAPATKAN KOMPLAIN ADANYA CVL DAN AMBIL KEMASAN BENIHNYA APABILA MASIH ADA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 dirty="0"/>
              <a:t>CEK DATA PENYALURAN BENIH TERHADAP LOT BENIH YANG MENDAPATKAN KOMPLAIN, APAKAH DAERAH LAIN JUGA MENGALAMI KEJADIAN YANG SERUPA TERHADAP LOT BENIH TERSEBUT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 dirty="0"/>
              <a:t>TANYAKAN SEJARAH PERTANAMAN MUSIM SEBELUMNYA (BEKAS BERA, PADI VARIETAS LAIN ATAU VARIETAS YANG SAMA DENGAN YANG DITANAM SAAT INI)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 dirty="0"/>
              <a:t>CEK LINGKUNGAN PERTANAMAN SEKITAR APAKAH ADA VARIETAS LAIN YANG DITANAM YANG MEMUNGKINKAN TERCAMPUR PADA </a:t>
            </a:r>
            <a:r>
              <a:rPr lang="id-ID" sz="1900"/>
              <a:t>SAAT PENYEMAIAN</a:t>
            </a:r>
            <a:endParaRPr lang="en-US" sz="1900" dirty="0"/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/>
              <a:t>TANYAKAN KONDISI CUACA SAAT PERNYEMAIAN APAKAH CURAH HUJAN TINGGI ATAU BAHKAN TERKENA BANJIR SEHINGGA TERCAMPUR DENGAN VARIETAS LAIN YANG DISEMAI BERSAMAAN DARI LINGKUNGAN SEKITAR</a:t>
            </a:r>
          </a:p>
          <a:p>
            <a:pPr lvl="0" algn="just">
              <a:buFont typeface="Wingdings" panose="05000000000000000000" pitchFamily="2" charset="2"/>
              <a:buChar char="ü"/>
            </a:pPr>
            <a:r>
              <a:rPr lang="id-ID" sz="1900"/>
              <a:t>CEK KONDISI PERTANAM DILAPANG, PERKIRAKAN PERSENTASE CVL DENGAN MINTA BANTUAN PETUGAS BPSB/PBT SETEMPAT</a:t>
            </a:r>
          </a:p>
          <a:p>
            <a:pPr marL="0" lvl="0" indent="0" algn="just">
              <a:buNone/>
            </a:pPr>
            <a:endParaRPr lang="id-ID" sz="19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9D3A482-D385-4A33-A4BB-BB841159CE81}"/>
              </a:ext>
            </a:extLst>
          </p:cNvPr>
          <p:cNvSpPr/>
          <p:nvPr/>
        </p:nvSpPr>
        <p:spPr>
          <a:xfrm>
            <a:off x="-1" y="288370"/>
            <a:ext cx="10080625" cy="1079832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F999229-265A-4D57-A653-FDFA727ABF66}"/>
              </a:ext>
            </a:extLst>
          </p:cNvPr>
          <p:cNvSpPr txBox="1">
            <a:spLocks/>
          </p:cNvSpPr>
          <p:nvPr/>
        </p:nvSpPr>
        <p:spPr>
          <a:xfrm>
            <a:off x="252015" y="360378"/>
            <a:ext cx="9576594" cy="1079832"/>
          </a:xfrm>
          <a:prstGeom prst="rect">
            <a:avLst/>
          </a:prstGeom>
        </p:spPr>
        <p:txBody>
          <a:bodyPr vert="horz" lIns="98746" tIns="49373" rIns="98746" bIns="49373" rtlCol="0" anchor="ctr">
            <a:normAutofit fontScale="77500" lnSpcReduction="20000"/>
          </a:bodyPr>
          <a:lstStyle>
            <a:lvl1pPr algn="ctr" defTabSz="987461" rtl="0" eaLnBrk="1" latinLnBrk="0" hangingPunct="1"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KOMPLAIN CAMPURAN VARIETAS LAIN</a:t>
            </a:r>
            <a:br>
              <a:rPr lang="id-ID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r>
              <a:rPr lang="id-ID" b="1">
                <a:ln w="13462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(CVL)</a:t>
            </a:r>
            <a:endParaRPr lang="id-ID" b="1" dirty="0">
              <a:ln w="13462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DEC61C-A765-47B2-9B2F-7DE1B75A076B}"/>
              </a:ext>
            </a:extLst>
          </p:cNvPr>
          <p:cNvSpPr/>
          <p:nvPr/>
        </p:nvSpPr>
        <p:spPr>
          <a:xfrm>
            <a:off x="393742" y="684270"/>
            <a:ext cx="288032" cy="2880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b="1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AD769990-1961-4465-BF79-23F0C932027F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9BB9A32-8D44-4506-A58B-91D3E9A38B57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A1886A6D-B214-44E0-92A8-B4A887DF7289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D3F6C864-8593-46BC-B8B2-C5FDF4AF056A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" name="object 2">
              <a:extLst>
                <a:ext uri="{FF2B5EF4-FFF2-40B4-BE49-F238E27FC236}">
                  <a16:creationId xmlns:a16="http://schemas.microsoft.com/office/drawing/2014/main" id="{396B44BD-5C66-4560-9566-454D8D61CEC9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4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37171BF-180B-4CDA-BF0C-4EDA7D042EED}"/>
              </a:ext>
            </a:extLst>
          </p:cNvPr>
          <p:cNvSpPr/>
          <p:nvPr/>
        </p:nvSpPr>
        <p:spPr>
          <a:xfrm>
            <a:off x="393742" y="504106"/>
            <a:ext cx="9293141" cy="646813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3929" y="843020"/>
            <a:ext cx="9025341" cy="5925782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id-ID"/>
              <a:t>JENIS </a:t>
            </a:r>
            <a:r>
              <a:rPr lang="id-ID" dirty="0"/>
              <a:t>CVL </a:t>
            </a:r>
            <a:r>
              <a:rPr lang="id-ID"/>
              <a:t>DILAPANG :</a:t>
            </a:r>
            <a:endParaRPr lang="en-US"/>
          </a:p>
          <a:p>
            <a:pPr marL="0" indent="0" algn="just">
              <a:buNone/>
            </a:pPr>
            <a:endParaRPr lang="id-ID" dirty="0"/>
          </a:p>
          <a:p>
            <a:pPr marL="723900" lvl="0" indent="-361950" algn="just">
              <a:buNone/>
            </a:pPr>
            <a:r>
              <a:rPr lang="id-ID"/>
              <a:t>-</a:t>
            </a:r>
            <a:r>
              <a:rPr lang="en-US"/>
              <a:t>	</a:t>
            </a:r>
            <a:r>
              <a:rPr lang="id-ID"/>
              <a:t>TANAMAN </a:t>
            </a:r>
            <a:r>
              <a:rPr lang="id-ID" dirty="0"/>
              <a:t>LEBIH TINGGI DAN EKSTRIM DARI PERTANAMAN YANG ADA</a:t>
            </a:r>
          </a:p>
          <a:p>
            <a:pPr marL="723900" lvl="0" indent="-361950" algn="just">
              <a:buNone/>
            </a:pPr>
            <a:r>
              <a:rPr lang="id-ID"/>
              <a:t>-</a:t>
            </a:r>
            <a:r>
              <a:rPr lang="en-US"/>
              <a:t>	</a:t>
            </a:r>
            <a:r>
              <a:rPr lang="id-ID"/>
              <a:t>TIPE </a:t>
            </a:r>
            <a:r>
              <a:rPr lang="id-ID" dirty="0"/>
              <a:t>PERTUMBUHAN BERBEDA DENGAN PERTANAMAN YANG ADA SEPERTI TERSERAH KE ARAH SAMPING</a:t>
            </a:r>
          </a:p>
          <a:p>
            <a:pPr marL="723900" lvl="0" indent="-361950" algn="just">
              <a:buNone/>
            </a:pPr>
            <a:r>
              <a:rPr lang="id-ID"/>
              <a:t>-</a:t>
            </a:r>
            <a:r>
              <a:rPr lang="en-US"/>
              <a:t>	</a:t>
            </a:r>
            <a:r>
              <a:rPr lang="id-ID"/>
              <a:t>BENTUK </a:t>
            </a:r>
            <a:r>
              <a:rPr lang="id-ID" dirty="0"/>
              <a:t>DAUN BENDERA BERBEDA DENGAN PERTANAMAN YANG ADA SEPERTI TERLALU PANJANG DAN </a:t>
            </a:r>
            <a:r>
              <a:rPr lang="id-ID"/>
              <a:t>TINGGI </a:t>
            </a:r>
            <a:endParaRPr lang="en-US"/>
          </a:p>
          <a:p>
            <a:pPr marL="723900" lvl="0" indent="-361950" algn="just">
              <a:buNone/>
            </a:pPr>
            <a:r>
              <a:rPr lang="id-ID"/>
              <a:t>-</a:t>
            </a:r>
            <a:r>
              <a:rPr lang="en-US"/>
              <a:t>	</a:t>
            </a:r>
            <a:r>
              <a:rPr lang="id-ID"/>
              <a:t>BENTUK </a:t>
            </a:r>
            <a:r>
              <a:rPr lang="id-ID" dirty="0"/>
              <a:t>GABAH BERBEDA DENGAN PERTANAMAN YANG ADA SEPERTI BEREKOR PANJANG, BENTUK BULAT, WARNA HITAM ATAU COKLAT DLL</a:t>
            </a:r>
          </a:p>
          <a:p>
            <a:pPr marL="723900" lvl="0" indent="-361950" algn="just">
              <a:buNone/>
            </a:pPr>
            <a:r>
              <a:rPr lang="id-ID"/>
              <a:t>-</a:t>
            </a:r>
            <a:r>
              <a:rPr lang="en-US"/>
              <a:t>	</a:t>
            </a:r>
            <a:r>
              <a:rPr lang="id-ID"/>
              <a:t>TINGGI </a:t>
            </a:r>
            <a:r>
              <a:rPr lang="id-ID" dirty="0"/>
              <a:t>TANAMAN LEBIH PENDEK DARI PERTANAMAN YANG ADA SEHINGGA </a:t>
            </a:r>
            <a:r>
              <a:rPr lang="id-ID"/>
              <a:t>TIDAK KELIHATAN</a:t>
            </a:r>
            <a:endParaRPr lang="id-ID" dirty="0"/>
          </a:p>
        </p:txBody>
      </p:sp>
      <p:sp>
        <p:nvSpPr>
          <p:cNvPr id="14" name="Parallelogram 13">
            <a:extLst>
              <a:ext uri="{FF2B5EF4-FFF2-40B4-BE49-F238E27FC236}">
                <a16:creationId xmlns:a16="http://schemas.microsoft.com/office/drawing/2014/main" id="{FBE9EF40-AE87-40BC-B84D-595E42E46C98}"/>
              </a:ext>
            </a:extLst>
          </p:cNvPr>
          <p:cNvSpPr/>
          <p:nvPr/>
        </p:nvSpPr>
        <p:spPr>
          <a:xfrm>
            <a:off x="6480472" y="6558969"/>
            <a:ext cx="2602507" cy="413270"/>
          </a:xfrm>
          <a:prstGeom prst="parallelogram">
            <a:avLst>
              <a:gd name="adj" fmla="val 13563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9CB4ED18-6CBD-400D-9C8E-118B11830957}"/>
              </a:ext>
            </a:extLst>
          </p:cNvPr>
          <p:cNvSpPr txBox="1">
            <a:spLocks/>
          </p:cNvSpPr>
          <p:nvPr/>
        </p:nvSpPr>
        <p:spPr>
          <a:xfrm>
            <a:off x="6715819" y="6601445"/>
            <a:ext cx="1596098" cy="383381"/>
          </a:xfrm>
          <a:prstGeom prst="rect">
            <a:avLst/>
          </a:prstGeom>
        </p:spPr>
        <p:txBody>
          <a:bodyPr vert="horz" lIns="98746" tIns="49373" rIns="98746" bIns="49373" rtlCol="0" anchor="ctr"/>
          <a:lstStyle>
            <a:defPPr>
              <a:defRPr lang="id-ID"/>
            </a:defPPr>
            <a:lvl1pPr marL="0" algn="ctr" defTabSz="987461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3730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6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119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492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865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38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5611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4984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>
                <a:solidFill>
                  <a:schemeClr val="tx1"/>
                </a:solidFill>
              </a:rPr>
              <a:t>KOMPLAIN CVL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4C7C8D5F-DE4C-454C-BFCA-AB8EE6BFEF96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CFC5269-F318-41DC-B9BD-EFC858B3287C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D4F8952F-ECBE-4B0C-9FC2-081207700E21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068D3417-98FA-4791-965F-4F0E421F156B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88E24C41-346A-440B-A8EC-E3A0BE64460E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5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93AA7A-185A-4723-9676-9A6F1420011E}"/>
              </a:ext>
            </a:extLst>
          </p:cNvPr>
          <p:cNvSpPr/>
          <p:nvPr/>
        </p:nvSpPr>
        <p:spPr>
          <a:xfrm>
            <a:off x="1662215" y="343617"/>
            <a:ext cx="6756194" cy="32097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862FD8B-5A80-4797-BE15-22706B9D90F6}"/>
              </a:ext>
            </a:extLst>
          </p:cNvPr>
          <p:cNvSpPr/>
          <p:nvPr/>
        </p:nvSpPr>
        <p:spPr>
          <a:xfrm>
            <a:off x="393742" y="504106"/>
            <a:ext cx="9293141" cy="646813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id="{654E0E9D-DDDE-4A66-B054-D92EDAF6C41E}"/>
              </a:ext>
            </a:extLst>
          </p:cNvPr>
          <p:cNvSpPr/>
          <p:nvPr/>
        </p:nvSpPr>
        <p:spPr>
          <a:xfrm>
            <a:off x="6480472" y="6558969"/>
            <a:ext cx="2602507" cy="413270"/>
          </a:xfrm>
          <a:prstGeom prst="parallelogram">
            <a:avLst>
              <a:gd name="adj" fmla="val 135630"/>
            </a:avLst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DB6116A-BAF3-498D-8559-632E00B0278B}"/>
              </a:ext>
            </a:extLst>
          </p:cNvPr>
          <p:cNvSpPr txBox="1">
            <a:spLocks/>
          </p:cNvSpPr>
          <p:nvPr/>
        </p:nvSpPr>
        <p:spPr>
          <a:xfrm>
            <a:off x="6715819" y="6601445"/>
            <a:ext cx="1596098" cy="383381"/>
          </a:xfrm>
          <a:prstGeom prst="rect">
            <a:avLst/>
          </a:prstGeom>
        </p:spPr>
        <p:txBody>
          <a:bodyPr vert="horz" lIns="98746" tIns="49373" rIns="98746" bIns="49373" rtlCol="0" anchor="ctr"/>
          <a:lstStyle>
            <a:defPPr>
              <a:defRPr lang="id-ID"/>
            </a:defPPr>
            <a:lvl1pPr marL="0" algn="ctr" defTabSz="987461" rtl="0" eaLnBrk="1" latinLnBrk="0" hangingPunct="1">
              <a:defRPr sz="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3730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8746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8119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7492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68651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6238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5611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49842" algn="l" defTabSz="987461" rtl="0" eaLnBrk="1" latinLnBrk="0" hangingPunct="1">
              <a:defRPr sz="1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d-ID">
                <a:solidFill>
                  <a:schemeClr val="tx1"/>
                </a:solidFill>
              </a:rPr>
              <a:t>KOMPLAIN CVL</a:t>
            </a:r>
            <a:endParaRPr lang="id-ID" dirty="0">
              <a:solidFill>
                <a:schemeClr val="tx1"/>
              </a:solidFill>
            </a:endParaRPr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9CB3324-AF95-403D-A94C-F330CD9E3A41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37" y="710431"/>
            <a:ext cx="9025341" cy="5568326"/>
          </a:xfrm>
        </p:spPr>
        <p:txBody>
          <a:bodyPr>
            <a:normAutofit fontScale="92500"/>
          </a:bodyPr>
          <a:lstStyle/>
          <a:p>
            <a:pPr lvl="0" algn="just">
              <a:buFont typeface="Wingdings" panose="05000000000000000000" pitchFamily="2" charset="2"/>
              <a:buChar char="ü"/>
            </a:pPr>
            <a:r>
              <a:rPr lang="id-ID" sz="2700"/>
              <a:t>DISKUSIKAN </a:t>
            </a:r>
            <a:r>
              <a:rPr lang="id-ID" sz="2700" dirty="0"/>
              <a:t>DENGAN PETANI/KELOMPOK TANI TERHADAP PEMECAHAN PERMASALAHAN YANG ADA </a:t>
            </a:r>
            <a:r>
              <a:rPr lang="id-ID" sz="2700"/>
              <a:t>DIANTARANYA :</a:t>
            </a:r>
            <a:endParaRPr lang="en-US" sz="2700"/>
          </a:p>
          <a:p>
            <a:pPr marL="0" lvl="0" indent="0" algn="just">
              <a:buNone/>
            </a:pPr>
            <a:endParaRPr lang="id-ID" sz="1500" dirty="0"/>
          </a:p>
          <a:p>
            <a:pPr marL="711200" indent="-369888" algn="just">
              <a:buNone/>
            </a:pPr>
            <a:r>
              <a:rPr lang="id-ID" sz="2700"/>
              <a:t>-</a:t>
            </a:r>
            <a:r>
              <a:rPr lang="en-US" sz="2700"/>
              <a:t>	</a:t>
            </a:r>
            <a:r>
              <a:rPr lang="id-ID" sz="2700"/>
              <a:t>MEMBERIKAN </a:t>
            </a:r>
            <a:r>
              <a:rPr lang="id-ID" sz="2700" dirty="0"/>
              <a:t>BIAYA ROUGING KEPADA PETANI/KELOMPOK TANI UNTUK MENCABUT CVL YANG ADA DILAPANG</a:t>
            </a:r>
          </a:p>
          <a:p>
            <a:pPr marL="711200" indent="-369888" algn="just">
              <a:buNone/>
            </a:pPr>
            <a:r>
              <a:rPr lang="id-ID" sz="2700"/>
              <a:t>-</a:t>
            </a:r>
            <a:r>
              <a:rPr lang="en-US" sz="2700"/>
              <a:t>	</a:t>
            </a:r>
            <a:r>
              <a:rPr lang="id-ID" sz="2700"/>
              <a:t>MEMBERIKAN </a:t>
            </a:r>
            <a:r>
              <a:rPr lang="id-ID" sz="2700" dirty="0"/>
              <a:t>KOMPENSASI KEPADA PETANI/KELOMPOK TANI TERHADAP TANAMAN YANG DILAKUKAN PENCABUTAN DAN HASIL PENCABUTAN DIBAWA KE KANTOR SEBAGAI TANDA BUKTI JUMLAH PENGGANTIAN</a:t>
            </a:r>
          </a:p>
          <a:p>
            <a:pPr marL="711200" indent="-369888" algn="just">
              <a:buNone/>
            </a:pPr>
            <a:r>
              <a:rPr lang="id-ID" sz="2700"/>
              <a:t>-</a:t>
            </a:r>
            <a:r>
              <a:rPr lang="en-US" sz="2700"/>
              <a:t>	</a:t>
            </a:r>
            <a:r>
              <a:rPr lang="id-ID" sz="2700"/>
              <a:t>HITUNG </a:t>
            </a:r>
            <a:r>
              <a:rPr lang="id-ID" sz="2700" dirty="0"/>
              <a:t>ESTIMASI BERAT GABAH SAAT PANEN TERHADAP PERTANAMAN YANG DICABUT UNTUK MENENTUKAN KWANTUM PENGGANTIAN</a:t>
            </a:r>
          </a:p>
          <a:p>
            <a:pPr lvl="0">
              <a:buNone/>
            </a:pPr>
            <a:r>
              <a:rPr lang="id-ID" dirty="0"/>
              <a:t>	</a:t>
            </a:r>
          </a:p>
          <a:p>
            <a:endParaRPr lang="id-ID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3F2DB7-5276-4630-A3A6-E8CBE240BD78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C8BBBB1F-FE86-4A22-B7AE-E9DAB5C1D7F6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6C079836-15C1-4516-8BDD-CCA66BF3F51A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B5A40011-C40A-47CE-B4EE-87F1E6A3BE24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6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6CC492-82D9-4CE8-B633-487E985DD25A}"/>
              </a:ext>
            </a:extLst>
          </p:cNvPr>
          <p:cNvSpPr/>
          <p:nvPr/>
        </p:nvSpPr>
        <p:spPr>
          <a:xfrm>
            <a:off x="1662215" y="343617"/>
            <a:ext cx="6756194" cy="32097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F54C8D1-DDD8-44C1-A54A-9B1B9A9F406D}"/>
              </a:ext>
            </a:extLst>
          </p:cNvPr>
          <p:cNvSpPr/>
          <p:nvPr/>
        </p:nvSpPr>
        <p:spPr>
          <a:xfrm>
            <a:off x="393742" y="504106"/>
            <a:ext cx="9293141" cy="6468133"/>
          </a:xfrm>
          <a:prstGeom prst="roundRect">
            <a:avLst>
              <a:gd name="adj" fmla="val 597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498" y="750075"/>
            <a:ext cx="9104096" cy="4950653"/>
          </a:xfrm>
        </p:spPr>
        <p:txBody>
          <a:bodyPr/>
          <a:lstStyle/>
          <a:p>
            <a:pPr marL="622300" indent="-622300" algn="just">
              <a:buFont typeface="Wingdings" panose="05000000000000000000" pitchFamily="2" charset="2"/>
              <a:buChar char="ü"/>
            </a:pPr>
            <a:r>
              <a:rPr lang="id-ID" sz="3200"/>
              <a:t>SAMPAIKAN PERMOHONAN MAAF DAN UCAPAN TERIMAKSIH TERHADAP KOREKSI YANG TELAH DILAKUKAN PETANI/KELOMPOK TANI SEBAGAI BAHAN PERBAIKAN KEDEPAN</a:t>
            </a:r>
            <a:endParaRPr lang="id-ID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EDF7ABB0-EF73-49F3-8E1A-10ED30A30440}"/>
              </a:ext>
            </a:extLst>
          </p:cNvPr>
          <p:cNvSpPr/>
          <p:nvPr/>
        </p:nvSpPr>
        <p:spPr>
          <a:xfrm flipH="1">
            <a:off x="7992640" y="5706544"/>
            <a:ext cx="1872208" cy="1322113"/>
          </a:xfrm>
          <a:prstGeom prst="rtTriangl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F7FAB8-8D6E-4147-9459-863668B24026}"/>
              </a:ext>
            </a:extLst>
          </p:cNvPr>
          <p:cNvGrpSpPr/>
          <p:nvPr/>
        </p:nvGrpSpPr>
        <p:grpSpPr>
          <a:xfrm>
            <a:off x="8556146" y="6259736"/>
            <a:ext cx="1225036" cy="712503"/>
            <a:chOff x="8556146" y="6259736"/>
            <a:chExt cx="1225036" cy="712503"/>
          </a:xfrm>
        </p:grpSpPr>
        <p:sp>
          <p:nvSpPr>
            <p:cNvPr id="7" name="object 11">
              <a:extLst>
                <a:ext uri="{FF2B5EF4-FFF2-40B4-BE49-F238E27FC236}">
                  <a16:creationId xmlns:a16="http://schemas.microsoft.com/office/drawing/2014/main" id="{79C19C9C-E505-4484-AFD7-E300C9C0A39E}"/>
                </a:ext>
              </a:extLst>
            </p:cNvPr>
            <p:cNvSpPr/>
            <p:nvPr/>
          </p:nvSpPr>
          <p:spPr>
            <a:xfrm>
              <a:off x="9044920" y="6259736"/>
              <a:ext cx="641963" cy="299233"/>
            </a:xfrm>
            <a:custGeom>
              <a:avLst/>
              <a:gdLst/>
              <a:ahLst/>
              <a:cxnLst/>
              <a:rect l="l" t="t" r="r" b="b"/>
              <a:pathLst>
                <a:path w="641963" h="299233">
                  <a:moveTo>
                    <a:pt x="36891" y="218116"/>
                  </a:moveTo>
                  <a:lnTo>
                    <a:pt x="0" y="269703"/>
                  </a:lnTo>
                  <a:lnTo>
                    <a:pt x="2162" y="270460"/>
                  </a:lnTo>
                  <a:lnTo>
                    <a:pt x="8477" y="272525"/>
                  </a:lnTo>
                  <a:lnTo>
                    <a:pt x="32530" y="279350"/>
                  </a:lnTo>
                  <a:lnTo>
                    <a:pt x="70090" y="287717"/>
                  </a:lnTo>
                  <a:lnTo>
                    <a:pt x="93287" y="291710"/>
                  </a:lnTo>
                  <a:lnTo>
                    <a:pt x="119085" y="295165"/>
                  </a:lnTo>
                  <a:lnTo>
                    <a:pt x="147224" y="297775"/>
                  </a:lnTo>
                  <a:lnTo>
                    <a:pt x="177447" y="299233"/>
                  </a:lnTo>
                  <a:lnTo>
                    <a:pt x="209493" y="299231"/>
                  </a:lnTo>
                  <a:lnTo>
                    <a:pt x="243105" y="297460"/>
                  </a:lnTo>
                  <a:lnTo>
                    <a:pt x="278024" y="293614"/>
                  </a:lnTo>
                  <a:lnTo>
                    <a:pt x="313991" y="287385"/>
                  </a:lnTo>
                  <a:lnTo>
                    <a:pt x="350747" y="278465"/>
                  </a:lnTo>
                  <a:lnTo>
                    <a:pt x="388034" y="266546"/>
                  </a:lnTo>
                  <a:lnTo>
                    <a:pt x="425593" y="251321"/>
                  </a:lnTo>
                  <a:lnTo>
                    <a:pt x="463165" y="232483"/>
                  </a:lnTo>
                  <a:lnTo>
                    <a:pt x="500491" y="209723"/>
                  </a:lnTo>
                  <a:lnTo>
                    <a:pt x="537314" y="182735"/>
                  </a:lnTo>
                  <a:lnTo>
                    <a:pt x="553382" y="162280"/>
                  </a:lnTo>
                  <a:lnTo>
                    <a:pt x="568914" y="142002"/>
                  </a:lnTo>
                  <a:lnTo>
                    <a:pt x="583978" y="121806"/>
                  </a:lnTo>
                  <a:lnTo>
                    <a:pt x="595890" y="105413"/>
                  </a:lnTo>
                  <a:lnTo>
                    <a:pt x="330685" y="132025"/>
                  </a:lnTo>
                  <a:lnTo>
                    <a:pt x="329220" y="124080"/>
                  </a:lnTo>
                  <a:lnTo>
                    <a:pt x="640753" y="40516"/>
                  </a:lnTo>
                  <a:lnTo>
                    <a:pt x="641963" y="38813"/>
                  </a:lnTo>
                  <a:lnTo>
                    <a:pt x="628230" y="33358"/>
                  </a:lnTo>
                  <a:lnTo>
                    <a:pt x="590916" y="20944"/>
                  </a:lnTo>
                  <a:lnTo>
                    <a:pt x="567812" y="14794"/>
                  </a:lnTo>
                  <a:lnTo>
                    <a:pt x="542060" y="9220"/>
                  </a:lnTo>
                  <a:lnTo>
                    <a:pt x="513899" y="4626"/>
                  </a:lnTo>
                  <a:lnTo>
                    <a:pt x="483567" y="1418"/>
                  </a:lnTo>
                  <a:lnTo>
                    <a:pt x="451302" y="0"/>
                  </a:lnTo>
                  <a:lnTo>
                    <a:pt x="417341" y="774"/>
                  </a:lnTo>
                  <a:lnTo>
                    <a:pt x="381924" y="4147"/>
                  </a:lnTo>
                  <a:lnTo>
                    <a:pt x="345288" y="10523"/>
                  </a:lnTo>
                  <a:lnTo>
                    <a:pt x="307671" y="20304"/>
                  </a:lnTo>
                  <a:lnTo>
                    <a:pt x="269311" y="33897"/>
                  </a:lnTo>
                  <a:lnTo>
                    <a:pt x="230447" y="51704"/>
                  </a:lnTo>
                  <a:lnTo>
                    <a:pt x="191316" y="74131"/>
                  </a:lnTo>
                  <a:lnTo>
                    <a:pt x="152157" y="101581"/>
                  </a:lnTo>
                  <a:lnTo>
                    <a:pt x="113208" y="134459"/>
                  </a:lnTo>
                  <a:lnTo>
                    <a:pt x="74706" y="173169"/>
                  </a:lnTo>
                  <a:lnTo>
                    <a:pt x="36891" y="21811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12">
              <a:extLst>
                <a:ext uri="{FF2B5EF4-FFF2-40B4-BE49-F238E27FC236}">
                  <a16:creationId xmlns:a16="http://schemas.microsoft.com/office/drawing/2014/main" id="{177AC55B-9F93-4A38-8CE8-BA6BA8435670}"/>
                </a:ext>
              </a:extLst>
            </p:cNvPr>
            <p:cNvSpPr/>
            <p:nvPr/>
          </p:nvSpPr>
          <p:spPr>
            <a:xfrm>
              <a:off x="9533378" y="6330752"/>
              <a:ext cx="247804" cy="641487"/>
            </a:xfrm>
            <a:custGeom>
              <a:avLst/>
              <a:gdLst/>
              <a:ahLst/>
              <a:cxnLst/>
              <a:rect l="l" t="t" r="r" b="b"/>
              <a:pathLst>
                <a:path w="247804" h="641487">
                  <a:moveTo>
                    <a:pt x="38385" y="587496"/>
                  </a:moveTo>
                  <a:lnTo>
                    <a:pt x="47395" y="614134"/>
                  </a:lnTo>
                  <a:lnTo>
                    <a:pt x="57374" y="641487"/>
                  </a:lnTo>
                  <a:lnTo>
                    <a:pt x="59697" y="639528"/>
                  </a:lnTo>
                  <a:lnTo>
                    <a:pt x="76378" y="624198"/>
                  </a:lnTo>
                  <a:lnTo>
                    <a:pt x="104890" y="594396"/>
                  </a:lnTo>
                  <a:lnTo>
                    <a:pt x="122002" y="574348"/>
                  </a:lnTo>
                  <a:lnTo>
                    <a:pt x="140173" y="551018"/>
                  </a:lnTo>
                  <a:lnTo>
                    <a:pt x="158772" y="524518"/>
                  </a:lnTo>
                  <a:lnTo>
                    <a:pt x="177167" y="494960"/>
                  </a:lnTo>
                  <a:lnTo>
                    <a:pt x="194723" y="462455"/>
                  </a:lnTo>
                  <a:lnTo>
                    <a:pt x="210810" y="427116"/>
                  </a:lnTo>
                  <a:lnTo>
                    <a:pt x="224794" y="389055"/>
                  </a:lnTo>
                  <a:lnTo>
                    <a:pt x="236043" y="348384"/>
                  </a:lnTo>
                  <a:lnTo>
                    <a:pt x="243924" y="305214"/>
                  </a:lnTo>
                  <a:lnTo>
                    <a:pt x="247804" y="259658"/>
                  </a:lnTo>
                  <a:lnTo>
                    <a:pt x="247052" y="211827"/>
                  </a:lnTo>
                  <a:lnTo>
                    <a:pt x="241034" y="161834"/>
                  </a:lnTo>
                  <a:lnTo>
                    <a:pt x="229119" y="109791"/>
                  </a:lnTo>
                  <a:lnTo>
                    <a:pt x="210672" y="55808"/>
                  </a:lnTo>
                  <a:lnTo>
                    <a:pt x="185063" y="0"/>
                  </a:lnTo>
                  <a:lnTo>
                    <a:pt x="194322" y="291585"/>
                  </a:lnTo>
                  <a:lnTo>
                    <a:pt x="186287" y="292470"/>
                  </a:lnTo>
                  <a:lnTo>
                    <a:pt x="141582" y="56307"/>
                  </a:lnTo>
                  <a:lnTo>
                    <a:pt x="134422" y="66197"/>
                  </a:lnTo>
                  <a:lnTo>
                    <a:pt x="127156" y="76112"/>
                  </a:lnTo>
                  <a:lnTo>
                    <a:pt x="119784" y="86049"/>
                  </a:lnTo>
                  <a:lnTo>
                    <a:pt x="112306" y="96008"/>
                  </a:lnTo>
                  <a:lnTo>
                    <a:pt x="104722" y="105987"/>
                  </a:lnTo>
                  <a:lnTo>
                    <a:pt x="97031" y="115983"/>
                  </a:lnTo>
                  <a:lnTo>
                    <a:pt x="89234" y="125995"/>
                  </a:lnTo>
                  <a:lnTo>
                    <a:pt x="81331" y="136021"/>
                  </a:lnTo>
                  <a:lnTo>
                    <a:pt x="73321" y="146060"/>
                  </a:lnTo>
                  <a:lnTo>
                    <a:pt x="65205" y="156110"/>
                  </a:lnTo>
                  <a:lnTo>
                    <a:pt x="56982" y="166168"/>
                  </a:lnTo>
                  <a:lnTo>
                    <a:pt x="48653" y="176234"/>
                  </a:lnTo>
                  <a:lnTo>
                    <a:pt x="40217" y="186305"/>
                  </a:lnTo>
                  <a:lnTo>
                    <a:pt x="35717" y="191627"/>
                  </a:lnTo>
                  <a:lnTo>
                    <a:pt x="28142" y="211260"/>
                  </a:lnTo>
                  <a:lnTo>
                    <a:pt x="21523" y="230916"/>
                  </a:lnTo>
                  <a:lnTo>
                    <a:pt x="15779" y="250713"/>
                  </a:lnTo>
                  <a:lnTo>
                    <a:pt x="10916" y="270684"/>
                  </a:lnTo>
                  <a:lnTo>
                    <a:pt x="6938" y="290864"/>
                  </a:lnTo>
                  <a:lnTo>
                    <a:pt x="3852" y="311285"/>
                  </a:lnTo>
                  <a:lnTo>
                    <a:pt x="1664" y="331982"/>
                  </a:lnTo>
                  <a:lnTo>
                    <a:pt x="377" y="352988"/>
                  </a:lnTo>
                  <a:lnTo>
                    <a:pt x="0" y="374337"/>
                  </a:lnTo>
                  <a:lnTo>
                    <a:pt x="535" y="396064"/>
                  </a:lnTo>
                  <a:lnTo>
                    <a:pt x="1991" y="418201"/>
                  </a:lnTo>
                  <a:lnTo>
                    <a:pt x="4371" y="440782"/>
                  </a:lnTo>
                  <a:lnTo>
                    <a:pt x="7681" y="463842"/>
                  </a:lnTo>
                  <a:lnTo>
                    <a:pt x="11928" y="487414"/>
                  </a:lnTo>
                  <a:lnTo>
                    <a:pt x="17116" y="511531"/>
                  </a:lnTo>
                  <a:lnTo>
                    <a:pt x="23251" y="536228"/>
                  </a:lnTo>
                  <a:lnTo>
                    <a:pt x="30339" y="561538"/>
                  </a:lnTo>
                  <a:lnTo>
                    <a:pt x="38385" y="587496"/>
                  </a:lnTo>
                  <a:close/>
                </a:path>
              </a:pathLst>
            </a:custGeom>
            <a:solidFill>
              <a:srgbClr val="326205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E9EB9D73-C6C8-44D5-B160-3170B1AD36B3}"/>
                </a:ext>
              </a:extLst>
            </p:cNvPr>
            <p:cNvSpPr txBox="1"/>
            <p:nvPr/>
          </p:nvSpPr>
          <p:spPr>
            <a:xfrm>
              <a:off x="8556146" y="6696101"/>
              <a:ext cx="826838" cy="203199"/>
            </a:xfrm>
            <a:prstGeom prst="rect">
              <a:avLst/>
            </a:prstGeom>
          </p:spPr>
          <p:txBody>
            <a:bodyPr wrap="square" lIns="0" tIns="0" rIns="0" bIns="0" rtlCol="0">
              <a:noAutofit/>
            </a:bodyPr>
            <a:lstStyle/>
            <a:p>
              <a:pPr marL="12700">
                <a:lnSpc>
                  <a:spcPts val="1525"/>
                </a:lnSpc>
                <a:spcBef>
                  <a:spcPts val="76"/>
                </a:spcBef>
              </a:pP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Be</a:t>
              </a:r>
              <a:r>
                <a:rPr sz="900" i="1" spc="-6" dirty="0">
                  <a:solidFill>
                    <a:srgbClr val="326205"/>
                  </a:solidFill>
                  <a:latin typeface="Times New Roman"/>
                  <a:cs typeface="Times New Roman"/>
                </a:rPr>
                <a:t>r</a:t>
              </a:r>
              <a:r>
                <a:rPr sz="900" i="1" spc="0" dirty="0">
                  <a:solidFill>
                    <a:srgbClr val="326205"/>
                  </a:solidFill>
                  <a:latin typeface="Times New Roman"/>
                  <a:cs typeface="Times New Roman"/>
                </a:rPr>
                <a:t>nas</a:t>
              </a:r>
              <a:r>
                <a:rPr sz="900" i="1" spc="-143" dirty="0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900" spc="0">
                  <a:solidFill>
                    <a:srgbClr val="326205"/>
                  </a:solidFill>
                  <a:latin typeface="Times New Roman"/>
                  <a:cs typeface="Times New Roman"/>
                </a:rPr>
                <a:t>| </a:t>
              </a:r>
              <a:r>
                <a:rPr sz="900" spc="147">
                  <a:solidFill>
                    <a:srgbClr val="326205"/>
                  </a:solidFill>
                  <a:latin typeface="Times New Roman"/>
                  <a:cs typeface="Times New Roman"/>
                </a:rPr>
                <a:t> </a:t>
              </a:r>
              <a:r>
                <a:rPr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0</a:t>
              </a:r>
              <a:r>
                <a:rPr lang="en-US" sz="1400" b="1" spc="-9">
                  <a:solidFill>
                    <a:srgbClr val="326205"/>
                  </a:solidFill>
                  <a:latin typeface="Times New Roman"/>
                  <a:cs typeface="Times New Roman"/>
                </a:rPr>
                <a:t>7</a:t>
              </a:r>
              <a:endParaRPr sz="1400">
                <a:latin typeface="Times New Roman"/>
                <a:cs typeface="Times New Roman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D37EFC1C-66B1-48C0-8292-001FD4328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784" y="3210104"/>
            <a:ext cx="3009524" cy="231111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E08A4CC-4CCA-4BA7-9C37-11C6AC30425A}"/>
              </a:ext>
            </a:extLst>
          </p:cNvPr>
          <p:cNvSpPr/>
          <p:nvPr/>
        </p:nvSpPr>
        <p:spPr>
          <a:xfrm>
            <a:off x="1662215" y="343617"/>
            <a:ext cx="6756194" cy="320978"/>
          </a:xfrm>
          <a:prstGeom prst="roundRect">
            <a:avLst>
              <a:gd name="adj" fmla="val 50000"/>
            </a:avLst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</TotalTime>
  <Words>806</Words>
  <Application>Microsoft Office PowerPoint</Application>
  <PresentationFormat>Custom</PresentationFormat>
  <Paragraphs>69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Arial Narrow</vt:lpstr>
      <vt:lpstr>Calibri</vt:lpstr>
      <vt:lpstr>Times New Roman</vt:lpstr>
      <vt:lpstr>Wingdings</vt:lpstr>
      <vt:lpstr>Office Theme</vt:lpstr>
      <vt:lpstr>PETUNJUK PENELUSURAN KOMPLAIN KUALITAS  BENIH PADI</vt:lpstr>
      <vt:lpstr>KOMPLAIN DAYA TUMBUH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KOMPLAIN DAYA TUMBUH</dc:title>
  <dc:creator>dell</dc:creator>
  <cp:lastModifiedBy>User</cp:lastModifiedBy>
  <cp:revision>37</cp:revision>
  <dcterms:created xsi:type="dcterms:W3CDTF">2018-03-08T08:43:19Z</dcterms:created>
  <dcterms:modified xsi:type="dcterms:W3CDTF">2024-08-06T13:00:18Z</dcterms:modified>
</cp:coreProperties>
</file>